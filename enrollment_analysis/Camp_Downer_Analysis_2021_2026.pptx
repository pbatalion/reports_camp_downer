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8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9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2026*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712</c:v>
                </c:pt>
                <c:pt idx="1">
                  <c:v>903</c:v>
                </c:pt>
                <c:pt idx="2">
                  <c:v>912</c:v>
                </c:pt>
                <c:pt idx="3">
                  <c:v>916</c:v>
                </c:pt>
                <c:pt idx="4">
                  <c:v>888</c:v>
                </c:pt>
                <c:pt idx="5">
                  <c:v>801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B1B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5C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Campers</c:v>
                </c:pt>
              </c:strCache>
            </c:strRef>
          </c:tx>
          <c:spPr>
            <a:solidFill>
              <a:srgbClr val="D4A3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'21→'22</c:v>
                  </c:pt>
                  <c:pt idx="1">
                    <c:v>'22→'23</c:v>
                  </c:pt>
                  <c:pt idx="2">
                    <c:v>'23→'24</c:v>
                  </c:pt>
                  <c:pt idx="3">
                    <c:v>'24→'25</c:v>
                  </c:pt>
                  <c:pt idx="4">
                    <c:v>'25→'26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476</c:v>
                </c:pt>
                <c:pt idx="1">
                  <c:v>417</c:v>
                </c:pt>
                <c:pt idx="2">
                  <c:v>396</c:v>
                </c:pt>
                <c:pt idx="3">
                  <c:v>369</c:v>
                </c:pt>
                <c:pt idx="4">
                  <c:v>337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1B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C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Retained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8</c:v>
                  </c:pt>
                  <c:pt idx="1">
                    <c:v>9</c:v>
                  </c:pt>
                  <c:pt idx="2">
                    <c:v>10</c:v>
                  </c:pt>
                  <c:pt idx="3">
                    <c:v>11</c:v>
                  </c:pt>
                  <c:pt idx="4">
                    <c:v>12</c:v>
                  </c:pt>
                  <c:pt idx="5">
                    <c:v>13</c:v>
                  </c:pt>
                  <c:pt idx="6">
                    <c:v>14</c:v>
                  </c:pt>
                  <c:pt idx="7">
                    <c:v>15</c:v>
                  </c:pt>
                  <c:pt idx="8">
                    <c:v>16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</c:v>
                </c:pt>
                <c:pt idx="1">
                  <c:v>44</c:v>
                </c:pt>
                <c:pt idx="2">
                  <c:v>91</c:v>
                </c:pt>
                <c:pt idx="3">
                  <c:v>87</c:v>
                </c:pt>
                <c:pt idx="4">
                  <c:v>102</c:v>
                </c:pt>
                <c:pt idx="5">
                  <c:v>52</c:v>
                </c:pt>
                <c:pt idx="6">
                  <c:v>57</c:v>
                </c:pt>
                <c:pt idx="7">
                  <c:v>20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8</c:v>
                  </c:pt>
                  <c:pt idx="1">
                    <c:v>9</c:v>
                  </c:pt>
                  <c:pt idx="2">
                    <c:v>10</c:v>
                  </c:pt>
                  <c:pt idx="3">
                    <c:v>11</c:v>
                  </c:pt>
                  <c:pt idx="4">
                    <c:v>12</c:v>
                  </c:pt>
                  <c:pt idx="5">
                    <c:v>13</c:v>
                  </c:pt>
                  <c:pt idx="6">
                    <c:v>14</c:v>
                  </c:pt>
                  <c:pt idx="7">
                    <c:v>15</c:v>
                  </c:pt>
                  <c:pt idx="8">
                    <c:v>16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12</c:v>
                </c:pt>
                <c:pt idx="1">
                  <c:v>43</c:v>
                </c:pt>
                <c:pt idx="2">
                  <c:v>44</c:v>
                </c:pt>
                <c:pt idx="3">
                  <c:v>72</c:v>
                </c:pt>
                <c:pt idx="4">
                  <c:v>66</c:v>
                </c:pt>
                <c:pt idx="5">
                  <c:v>62</c:v>
                </c:pt>
                <c:pt idx="6">
                  <c:v>47</c:v>
                </c:pt>
                <c:pt idx="7">
                  <c:v>53</c:v>
                </c:pt>
                <c:pt idx="8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Girls+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396</c:v>
                </c:pt>
                <c:pt idx="1">
                  <c:v>472</c:v>
                </c:pt>
                <c:pt idx="2">
                  <c:v>489</c:v>
                </c:pt>
                <c:pt idx="3">
                  <c:v>487</c:v>
                </c:pt>
                <c:pt idx="4">
                  <c:v>495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Boys+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316</c:v>
                </c:pt>
                <c:pt idx="1">
                  <c:v>435</c:v>
                </c:pt>
                <c:pt idx="2">
                  <c:v>434</c:v>
                </c:pt>
                <c:pt idx="3">
                  <c:v>438</c:v>
                </c:pt>
                <c:pt idx="4">
                  <c:v>399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Ages 7–9</c:v>
                </c:pt>
              </c:strCache>
            </c:strRef>
          </c:tx>
          <c:spPr>
            <a:solidFill>
              <a:srgbClr val="52B788"/>
            </a:solidFill>
            <a:ln w="31750" cap="flat">
              <a:solidFill>
                <a:srgbClr val="52B7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2B788"/>
              </a:solidFill>
              <a:ln w="9525" cap="flat">
                <a:solidFill>
                  <a:srgbClr val="52B7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'21→'22</c:v>
                  </c:pt>
                  <c:pt idx="1">
                    <c:v>'22→'23</c:v>
                  </c:pt>
                  <c:pt idx="2">
                    <c:v>'23→'24</c:v>
                  </c:pt>
                  <c:pt idx="3">
                    <c:v>'24→'25</c:v>
                  </c:pt>
                  <c:pt idx="4">
                    <c:v>'25→'26*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24.5</c:v>
                </c:pt>
                <c:pt idx="1">
                  <c:v>31.7</c:v>
                </c:pt>
                <c:pt idx="2">
                  <c:v>26.4</c:v>
                </c:pt>
                <c:pt idx="3">
                  <c:v>31.6</c:v>
                </c:pt>
                <c:pt idx="4">
                  <c:v>35.2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Ages 10–11</c:v>
                </c:pt>
              </c:strCache>
            </c:strRef>
          </c:tx>
          <c:spPr>
            <a:solidFill>
              <a:srgbClr val="D4A373"/>
            </a:solidFill>
            <a:ln w="31750" cap="flat">
              <a:solidFill>
                <a:srgbClr val="D4A37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373"/>
              </a:solidFill>
              <a:ln w="9525" cap="flat">
                <a:solidFill>
                  <a:srgbClr val="D4A37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'21→'22</c:v>
                  </c:pt>
                  <c:pt idx="1">
                    <c:v>'22→'23</c:v>
                  </c:pt>
                  <c:pt idx="2">
                    <c:v>'23→'24</c:v>
                  </c:pt>
                  <c:pt idx="3">
                    <c:v>'24→'25</c:v>
                  </c:pt>
                  <c:pt idx="4">
                    <c:v>'25→'26*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22.4</c:v>
                </c:pt>
                <c:pt idx="1">
                  <c:v>38.3</c:v>
                </c:pt>
                <c:pt idx="2">
                  <c:v>37.2</c:v>
                </c:pt>
                <c:pt idx="3">
                  <c:v>41.1</c:v>
                </c:pt>
                <c:pt idx="4">
                  <c:v>28.6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Ages 12–13</c:v>
                </c:pt>
              </c:strCache>
            </c:strRef>
          </c:tx>
          <c:spPr>
            <a:solidFill>
              <a:srgbClr val="E76F51"/>
            </a:solidFill>
            <a:ln w="31750" cap="flat">
              <a:solidFill>
                <a:srgbClr val="E76F5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76F51"/>
              </a:solidFill>
              <a:ln w="9525" cap="flat">
                <a:solidFill>
                  <a:srgbClr val="E76F5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'21→'22</c:v>
                  </c:pt>
                  <c:pt idx="1">
                    <c:v>'22→'23</c:v>
                  </c:pt>
                  <c:pt idx="2">
                    <c:v>'23→'24</c:v>
                  </c:pt>
                  <c:pt idx="3">
                    <c:v>'24→'25</c:v>
                  </c:pt>
                  <c:pt idx="4">
                    <c:v>'25→'26*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37.3</c:v>
                </c:pt>
                <c:pt idx="1">
                  <c:v>40.4</c:v>
                </c:pt>
                <c:pt idx="2">
                  <c:v>44</c:v>
                </c:pt>
                <c:pt idx="3">
                  <c:v>44.2</c:v>
                </c:pt>
                <c:pt idx="4">
                  <c:v>39.7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Ages 14+</c:v>
                </c:pt>
              </c:strCache>
            </c:strRef>
          </c:tx>
          <c:spPr>
            <a:solidFill>
              <a:srgbClr val="C1121F"/>
            </a:solidFill>
            <a:ln w="31750" cap="flat">
              <a:solidFill>
                <a:srgbClr val="C112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1121F"/>
              </a:solidFill>
              <a:ln w="9525" cap="flat">
                <a:solidFill>
                  <a:srgbClr val="C112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'21→'22</c:v>
                  </c:pt>
                  <c:pt idx="1">
                    <c:v>'22→'23</c:v>
                  </c:pt>
                  <c:pt idx="2">
                    <c:v>'23→'24</c:v>
                  </c:pt>
                  <c:pt idx="3">
                    <c:v>'24→'25</c:v>
                  </c:pt>
                  <c:pt idx="4">
                    <c:v>'25→'26*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64.2</c:v>
                </c:pt>
                <c:pt idx="1">
                  <c:v>67.9</c:v>
                </c:pt>
                <c:pt idx="2">
                  <c:v>65.5</c:v>
                </c:pt>
                <c:pt idx="3">
                  <c:v>57.3</c:v>
                </c:pt>
                <c:pt idx="4">
                  <c:v>56.6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C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Girls+</c:v>
                </c:pt>
              </c:strCache>
            </c:strRef>
          </c:tx>
          <c:spPr>
            <a:solidFill>
              <a:srgbClr val="A26769"/>
            </a:solidFill>
            <a:ln w="38100" cap="flat">
              <a:solidFill>
                <a:srgbClr val="A267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26769"/>
              </a:solidFill>
              <a:ln w="9525" cap="flat">
                <a:solidFill>
                  <a:srgbClr val="A267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'21→'22</c:v>
                  </c:pt>
                  <c:pt idx="1">
                    <c:v>'22→'23</c:v>
                  </c:pt>
                  <c:pt idx="2">
                    <c:v>'23→'24</c:v>
                  </c:pt>
                  <c:pt idx="3">
                    <c:v>'24→'25</c:v>
                  </c:pt>
                  <c:pt idx="4">
                    <c:v>'25→'26*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41.9</c:v>
                </c:pt>
                <c:pt idx="1">
                  <c:v>44.5</c:v>
                </c:pt>
                <c:pt idx="2">
                  <c:v>44</c:v>
                </c:pt>
                <c:pt idx="3">
                  <c:v>41.3</c:v>
                </c:pt>
                <c:pt idx="4">
                  <c:v>35.2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Boys+</c:v>
                </c:pt>
              </c:strCache>
            </c:strRef>
          </c:tx>
          <c:spPr>
            <a:solidFill>
              <a:srgbClr val="028090"/>
            </a:solidFill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'21→'22</c:v>
                  </c:pt>
                  <c:pt idx="1">
                    <c:v>'22→'23</c:v>
                  </c:pt>
                  <c:pt idx="2">
                    <c:v>'23→'24</c:v>
                  </c:pt>
                  <c:pt idx="3">
                    <c:v>'24→'25</c:v>
                  </c:pt>
                  <c:pt idx="4">
                    <c:v>'25→'26*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38.3</c:v>
                </c:pt>
                <c:pt idx="1">
                  <c:v>46</c:v>
                </c:pt>
                <c:pt idx="2">
                  <c:v>42.4</c:v>
                </c:pt>
                <c:pt idx="3">
                  <c:v>46.6</c:v>
                </c:pt>
                <c:pt idx="4">
                  <c:v>44.1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B1B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25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C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Registered</c:v>
                </c:pt>
              </c:strCache>
            </c:strRef>
          </c:tx>
          <c:spPr>
            <a:solidFill>
              <a:srgbClr val="95D5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S1</c:v>
                  </c:pt>
                  <c:pt idx="1">
                    <c:v>S2</c:v>
                  </c:pt>
                  <c:pt idx="2">
                    <c:v>S3 (2wk)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  <c:pt idx="6">
                    <c:v>S7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127</c:v>
                </c:pt>
                <c:pt idx="1">
                  <c:v>135</c:v>
                </c:pt>
                <c:pt idx="2">
                  <c:v>145</c:v>
                </c:pt>
                <c:pt idx="3">
                  <c:v>137</c:v>
                </c:pt>
                <c:pt idx="4">
                  <c:v>140</c:v>
                </c:pt>
                <c:pt idx="5">
                  <c:v>137</c:v>
                </c:pt>
                <c:pt idx="6">
                  <c:v>139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Registered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S1</c:v>
                  </c:pt>
                  <c:pt idx="1">
                    <c:v>S2</c:v>
                  </c:pt>
                  <c:pt idx="2">
                    <c:v>S3 (2wk)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  <c:pt idx="6">
                    <c:v>S7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110</c:v>
                </c:pt>
                <c:pt idx="1">
                  <c:v>119</c:v>
                </c:pt>
                <c:pt idx="2">
                  <c:v>144</c:v>
                </c:pt>
                <c:pt idx="3">
                  <c:v>134</c:v>
                </c:pt>
                <c:pt idx="4">
                  <c:v>137</c:v>
                </c:pt>
                <c:pt idx="5">
                  <c:v>139</c:v>
                </c:pt>
                <c:pt idx="6">
                  <c:v>140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 Waitlisted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S1</c:v>
                  </c:pt>
                  <c:pt idx="1">
                    <c:v>S2</c:v>
                  </c:pt>
                  <c:pt idx="2">
                    <c:v>S3 (2wk)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  <c:pt idx="6">
                    <c:v>S7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21</c:v>
                </c:pt>
                <c:pt idx="1">
                  <c:v>33</c:v>
                </c:pt>
                <c:pt idx="2">
                  <c:v>28</c:v>
                </c:pt>
                <c:pt idx="3">
                  <c:v>36</c:v>
                </c:pt>
                <c:pt idx="4">
                  <c:v>42</c:v>
                </c:pt>
                <c:pt idx="5">
                  <c:v>31</c:v>
                </c:pt>
                <c:pt idx="6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B1B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Years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4A373"/>
              </a:solidFill>
              <a:effectLst/>
            </c:spPr>
          </c:dPt>
          <c:dPt>
            <c:idx val="1"/>
            <c:bubble3D val="0"/>
            <c:spPr>
              <a:solidFill>
                <a:srgbClr val="E9C46A"/>
              </a:solidFill>
              <a:effectLst/>
            </c:spPr>
          </c:dPt>
          <c:dPt>
            <c:idx val="2"/>
            <c:bubble3D val="0"/>
            <c:spPr>
              <a:solidFill>
                <a:srgbClr val="52B788"/>
              </a:solidFill>
              <a:effectLst/>
            </c:spPr>
          </c:dPt>
          <c:dPt>
            <c:idx val="3"/>
            <c:bubble3D val="0"/>
            <c:spPr>
              <a:solidFill>
                <a:srgbClr val="2D6A4F"/>
              </a:solidFill>
              <a:effectLst/>
            </c:spPr>
          </c:dPt>
          <c:dPt>
            <c:idx val="4"/>
            <c:bubble3D val="0"/>
            <c:spPr>
              <a:solidFill>
                <a:srgbClr val="1B433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B1B1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B1B1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B1B1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B1B1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B1B1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1 year</c:v>
                </c:pt>
                <c:pt idx="1">
                  <c:v>2 years</c:v>
                </c:pt>
                <c:pt idx="2">
                  <c:v>3 years</c:v>
                </c:pt>
                <c:pt idx="3">
                  <c:v>4 years</c:v>
                </c:pt>
                <c:pt idx="4">
                  <c:v>5 years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1176</c:v>
                </c:pt>
                <c:pt idx="1">
                  <c:v>574</c:v>
                </c:pt>
                <c:pt idx="2">
                  <c:v>309</c:v>
                </c:pt>
                <c:pt idx="3">
                  <c:v>160</c:v>
                </c:pt>
                <c:pt idx="4">
                  <c:v>88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712</c:v>
                </c:pt>
                <c:pt idx="1">
                  <c:v>903</c:v>
                </c:pt>
                <c:pt idx="2">
                  <c:v>912</c:v>
                </c:pt>
                <c:pt idx="3">
                  <c:v>916</c:v>
                </c:pt>
                <c:pt idx="4">
                  <c:v>888</c:v>
                </c:pt>
                <c:pt idx="5">
                  <c:v>801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Waitlisted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62</c:v>
                </c:pt>
                <c:pt idx="1">
                  <c:v>136</c:v>
                </c:pt>
                <c:pt idx="2">
                  <c:v>170</c:v>
                </c:pt>
                <c:pt idx="3">
                  <c:v>164</c:v>
                </c:pt>
                <c:pt idx="4">
                  <c:v>173</c:v>
                </c:pt>
                <c:pt idx="5">
                  <c:v>155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 DOWNER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Analysis  |  Summer 2021 –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 •  Retention  •  Age &amp; Gender  •  Activities  •  Waitlist  •  Churn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2,307 unique campers (2021–2025)  •  801 registered for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Enrollment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registered camper counts (2026 registration still in progress)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371600"/>
            <a:ext cx="29260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2648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Year-over-Year Growth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12648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→ 2022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89520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+26.8%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12648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→ 2023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+1.0%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12648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→ 2024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89520" y="2834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C5C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+0.4%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12648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→ 2025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89520" y="3291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-3.1%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126480" y="3840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→ 2026*:  </a:t>
            </a:r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-9.8%</a:t>
            </a:r>
            <a:pPr indent="0" marL="0">
              <a:buNone/>
            </a:pPr>
            <a:r>
              <a:rPr lang="en-US" sz="9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(in progress)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2648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*155 additional campers on waitlist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4617720"/>
            <a:ext cx="841248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46451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staffing plan (2 counselors/cabin) cut 14 beds/session × 7 sessions = 98 fewer slots. Actual decline: 100 session-regs. The staffing plan accounts for 98% of the drop.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Retention &amp; Churn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has dropped to 52% heading into 2026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 → 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 →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 →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 →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→ 2026*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33756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3429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2021 Cohort Tracking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37947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Started: 712 campers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in 2022: 427 (60%) → 2023: 268 (38%)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in 2024: 152 (21%) → 2025: 101 (14%)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333756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3776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Camper Pipeline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846320" y="3749040"/>
          <a:ext cx="3840480" cy="1051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*2026 registration ongoing. 74 additional churned campers are on the 2026 waitlist.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Churns vs. Who Stays (2025 → 2026)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 campers not registered for 2026 (74 on waitlist, 350 fully absent)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97480" y="137160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9748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2194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84632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Waitlist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churned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95160" y="137160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9516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99516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Gone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95160" y="2194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2026 activity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83464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 Rate by Tenure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291840"/>
          <a:ext cx="37490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years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years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years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years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937760" y="283464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12064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 by 2025 Session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120640" y="32918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 57% churn  (July 4th wk)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6:  51% churn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4:  49% churn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 47% churn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 46% churn  (2-week)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7:  45% churn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5:  39% churn  (lowest)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veterans churn at 53% — likely aging out. 3-year campers are stickiest at 39%.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 by Age (2025 → 2026)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campers churn at dramatically higher rates — aging out is the primary driver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7160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371600"/>
            <a:ext cx="32004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1463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 Insights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85216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</a:t>
            </a:r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avg age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852160" y="22402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campers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852160" y="2606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</a:t>
            </a:r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avg age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852160" y="29260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campers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3291840"/>
            <a:ext cx="2834640" cy="0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0" y="3383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15: </a:t>
            </a:r>
            <a:pPr indent="0" marL="0">
              <a:buNone/>
            </a:pPr>
            <a:r>
              <a:rPr lang="en-US" sz="13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churn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52160" y="3657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16: </a:t>
            </a:r>
            <a:pPr indent="0" marL="0">
              <a:buNone/>
            </a:pPr>
            <a:r>
              <a:rPr lang="en-US" sz="13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churn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52160" y="3931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10: </a:t>
            </a:r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churn </a:t>
            </a:r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(lowest)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roughly doubles between ages 10 and 15. Most 15–16 year olds are aging out of camp.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Gender Breakdown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and churn patterns by camper grouping (Girls+ / Boys+)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7160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371600"/>
            <a:ext cx="32004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1463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 by Gender (2025→2026)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852160" y="1965960"/>
            <a:ext cx="2834640" cy="914400"/>
          </a:xfrm>
          <a:prstGeom prst="rect">
            <a:avLst/>
          </a:prstGeom>
          <a:solidFill>
            <a:srgbClr val="F8F0EE"/>
          </a:solidFill>
          <a:ln/>
        </p:spPr>
      </p:sp>
      <p:sp>
        <p:nvSpPr>
          <p:cNvPr id="8" name="Text 5"/>
          <p:cNvSpPr/>
          <p:nvPr/>
        </p:nvSpPr>
        <p:spPr>
          <a:xfrm>
            <a:off x="598932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67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Girls+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churn rate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989320" y="2606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239 churned of 495 registered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3017520"/>
            <a:ext cx="2834640" cy="914400"/>
          </a:xfrm>
          <a:prstGeom prst="rect">
            <a:avLst/>
          </a:prstGeom>
          <a:solidFill>
            <a:srgbClr val="EDF5F5"/>
          </a:solidFill>
          <a:ln/>
        </p:spPr>
      </p:sp>
      <p:sp>
        <p:nvSpPr>
          <p:cNvPr id="12" name="Text 9"/>
          <p:cNvSpPr/>
          <p:nvPr/>
        </p:nvSpPr>
        <p:spPr>
          <a:xfrm>
            <a:off x="5989320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Boys+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89320" y="3337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churn rate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5989320" y="3657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 churned of 399 registered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 consistently leans 53–56% Girls+. Churn rates are similar across genders, with Girls+ slightly higher.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 Churn Trends (Year over Year)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rates by age group across all transitions — do younger campers churn more over time?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7160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371600"/>
            <a:ext cx="29260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1792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Trends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17920" y="182880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14+ declining ↓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→ 57% — fewer older teens leaving. Possibly fewer aging-out teens in the pipeline.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7–9 rising ↑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→ 35% — youngest campers increasingly not returning. This is concerning.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10–11 volatile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→ 41% → 29% — swings year to year, no clear trend.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12–13 stable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Hovering around 40% — consistent churn at the pre-teen transition.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improving 14+ trend is offset by worsening churn among youngest campers (7–9).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Gender Churn Trends (Year over Year)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churn rates differ by gender consistently, or is the gap shrinking/growing?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7160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371600"/>
            <a:ext cx="29260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1792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Gender Trends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17920" y="1920240"/>
            <a:ext cx="2560320" cy="1005840"/>
          </a:xfrm>
          <a:prstGeom prst="rect">
            <a:avLst/>
          </a:prstGeom>
          <a:solidFill>
            <a:srgbClr val="F8F0EE"/>
          </a:solidFill>
          <a:ln/>
        </p:spPr>
      </p:sp>
      <p:sp>
        <p:nvSpPr>
          <p:cNvPr id="8" name="Text 5"/>
          <p:cNvSpPr/>
          <p:nvPr/>
        </p:nvSpPr>
        <p:spPr>
          <a:xfrm>
            <a:off x="630936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267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Girls+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0936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→ 35%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30936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trend — Girls+ churn dropped significantly in 2025→2026.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217920" y="3063240"/>
            <a:ext cx="2560320" cy="1005840"/>
          </a:xfrm>
          <a:prstGeom prst="rect">
            <a:avLst/>
          </a:prstGeom>
          <a:solidFill>
            <a:srgbClr val="EDF5F5"/>
          </a:solidFill>
          <a:ln/>
        </p:spPr>
      </p:sp>
      <p:sp>
        <p:nvSpPr>
          <p:cNvPr id="12" name="Text 9"/>
          <p:cNvSpPr/>
          <p:nvPr/>
        </p:nvSpPr>
        <p:spPr>
          <a:xfrm>
            <a:off x="6309360" y="3108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Boys+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0936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→ 44%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30936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Worsening trend — Boys+ churn has crept up steadily since 2021.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Girls+ retention is improving while Boys+ is getting worse. The gap has reversed from 2021 to 2026.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 × Gender: Where the Two Meet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Boys+ churn harder at both extremes — youngest and oldest campers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51206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94360"/>
                <a:gridCol w="594360"/>
                <a:gridCol w="594360"/>
                <a:gridCol w="594360"/>
                <a:gridCol w="594360"/>
                <a:gridCol w="594360"/>
                <a:gridCol w="59436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G+ Ret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67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G+ 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67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G+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67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B+ Ret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B+ 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B+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2B7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325880"/>
            <a:ext cx="32004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1417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852160" y="173736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Boys+ age 15: 89% churn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of 35 gone — nearly total loss. These boys age out much harder than girls (47%).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Boys+ age 8: 40% vs 10%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young-age gap. We're losing first-time boys at 4× the rate of girls.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Girls+ 10–11: just 26%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churn for any group. This is the sweet spot age for retention.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14: only exception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age where Girls+ (44%) churn more than Boys+ (38%).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area: Boys+ ages 7–11. Losing a young boy = losing up to 8 more potential summers.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Popularity: 2025 vs 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registration and waitlist counts by session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7160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371600"/>
            <a:ext cx="29260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2648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Waitlist by Session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920240"/>
          <a:ext cx="25603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2 (Jul 4th)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3 (2-wk)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12648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2026 demand: 956 </a:t>
            </a:r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(801 registered + 155 waitlisted)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has the largest 2026 waitlist (42). All sessions show unmet demand.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Trends (2024 → 2025)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and creative programs are surging; competitive sports are declining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Rising Activities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35661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9144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B7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 →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B7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B788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Campfire Cooking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→ 140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Yoga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→ 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 → 138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→ 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Ropes Adventure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 → 174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→ 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 Golf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 → 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Softball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 → 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 → 226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Volleyball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 → 135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754880" y="137160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Declining Activities</a:t>
            </a:r>
            <a:endParaRPr lang="en-US" sz="14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874520"/>
          <a:ext cx="35661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9144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12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 →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12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121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Downer Wild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 → 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Ultimate Frisbee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 → 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Basketball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 → 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Aerobics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 → 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 → 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 → 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Journalism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 → 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433 → 368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Dodgeball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 → 126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Recreation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 → 182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2025: Racket Sports (56 campers), Jewelry (35 campers) — strong first-year launches.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Camper Loyalty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distribution and multi-session engagement (2021–2025)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28016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137160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937760" y="1417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035040" y="1417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Veterans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summer 2021–2025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25603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37760" y="2606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51%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035040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One-and-Done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1,176 campers attended just one summer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374904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3776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Multi-session campers declining:  </a:t>
            </a:r>
            <a:pPr indent="0" marL="0">
              <a:buNone/>
            </a:pPr>
            <a:r>
              <a:rPr lang="en-US" sz="11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10.3% (2022) → 6.9% (2025)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3776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54% for multi-session vs 52% for single-session into 2026.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Waitlist Trends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demand beyond capacity across all seasons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716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371600"/>
            <a:ext cx="32004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1463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Demand Summary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852160" y="18745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801</a:t>
            </a:r>
            <a:endParaRPr lang="en-US" sz="2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315200" y="18745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</a:t>
            </a:r>
            <a:endParaRPr lang="en-US" sz="2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Waitlisted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852160" y="26517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956</a:t>
            </a:r>
            <a:endParaRPr lang="en-US" sz="2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Demand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852160" y="34747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WL sessions: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S5: 42  •  S4: 36  •  S2: 33  •  S6: 31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S7: 29  •  S3: 28  •  S1: 21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demand (registered + waitlisted) has remained near 1,000 since 2022.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49377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69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3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Retention at all-time 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83280" y="10698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 into 2026 — 424 campers from 2025 haven't registered. 350 show no 2026 activity at all.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627632"/>
            <a:ext cx="7680960" cy="49377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3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Aging out drives churn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campers avg age 12.1 vs 11.4 retained. At age 15, 73% churn. At 16, 100%. These aren't lost — they've graduated.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2203704"/>
            <a:ext cx="7680960" cy="49377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219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3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First-year campers churn most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22219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 of one-year campers don't return. Improving the first-year experience is the single biggest lever for retention.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2779776"/>
            <a:ext cx="7680960" cy="49377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7980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3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Gender trends diverging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7980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Girls+ churn improving (42%→35%), Boys+ worsening (38%→44%). The gap has reversed — Boys+ now churn more.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3355848"/>
            <a:ext cx="7680960" cy="49377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3741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3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2025 dip was 98% staffing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33741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fewer beds × 7 sessions = 98 fewer slots vs. 100 actual decline. The enrollment dip was the staffing decision — demand grew.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7680960" cy="49377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9502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3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exists beyond capacity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9502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 on the 2026 waitlist. Total demand: 956 — higher than any prior year.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4507992"/>
            <a:ext cx="7680960" cy="49377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526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3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mix is shifting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4526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Campfire Cooking (+180%), Fishing (+55%), Ropes (+34%) surging. Sports declining — worth investigating if it's preference or programming.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 Downer Registration Analysis 2021-2026</dc:title>
  <dc:subject>PptxGenJS Presentation</dc:subject>
  <dc:creator>Camp Downer Analytics</dc:creator>
  <cp:lastModifiedBy>Camp Downer Analytics</cp:lastModifiedBy>
  <cp:revision>1</cp:revision>
  <dcterms:created xsi:type="dcterms:W3CDTF">2026-02-18T02:07:12Z</dcterms:created>
  <dcterms:modified xsi:type="dcterms:W3CDTF">2026-02-18T02:07:12Z</dcterms:modified>
</cp:coreProperties>
</file>